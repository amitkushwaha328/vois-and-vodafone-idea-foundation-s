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40" r:id="rId8"/>
    <p:sldId id="329" r:id="rId9"/>
    <p:sldId id="302" r:id="rId10"/>
    <p:sldId id="339" r:id="rId11"/>
    <p:sldId id="341" r:id="rId12"/>
    <p:sldId id="342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itkushwaha328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mitkushwaha328/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701" y="5269527"/>
            <a:ext cx="7377808" cy="1395433"/>
          </a:xfrm>
        </p:spPr>
        <p:txBody>
          <a:bodyPr>
            <a:normAutofit fontScale="85000" lnSpcReduction="20000"/>
          </a:bodyPr>
          <a:lstStyle/>
          <a:p>
            <a:r>
              <a:rPr lang="en-IN" b="0" dirty="0">
                <a:solidFill>
                  <a:schemeClr val="tx1"/>
                </a:solidFill>
              </a:rPr>
              <a:t>Name : Amit Kushwaha</a:t>
            </a:r>
          </a:p>
          <a:p>
            <a:r>
              <a:rPr lang="en-US" b="0" dirty="0">
                <a:solidFill>
                  <a:schemeClr val="tx1"/>
                </a:solidFill>
              </a:rPr>
              <a:t>AICTE Internship Student Registration ID : STU67a830e92f94c1739075817</a:t>
            </a:r>
          </a:p>
          <a:p>
            <a:r>
              <a:rPr lang="en-US" b="0" dirty="0" err="1">
                <a:solidFill>
                  <a:schemeClr val="tx1"/>
                </a:solidFill>
              </a:rPr>
              <a:t>B.Tech</a:t>
            </a:r>
            <a:r>
              <a:rPr lang="en-US" b="0" dirty="0">
                <a:solidFill>
                  <a:schemeClr val="tx1"/>
                </a:solidFill>
              </a:rPr>
              <a:t> CE-AIML, 3nd Year</a:t>
            </a:r>
          </a:p>
          <a:p>
            <a:r>
              <a:rPr lang="en-US" b="0" dirty="0">
                <a:solidFill>
                  <a:schemeClr val="tx1"/>
                </a:solidFill>
              </a:rPr>
              <a:t>VOIS × Vodafone Idea Foundation Minor Project</a:t>
            </a:r>
            <a:endParaRPr lang="en-IN" b="0" dirty="0">
              <a:solidFill>
                <a:schemeClr val="tx1"/>
              </a:solidFill>
            </a:endParaRPr>
          </a:p>
          <a:p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03" y="3064522"/>
            <a:ext cx="10767525" cy="861498"/>
          </a:xfrm>
        </p:spPr>
        <p:txBody>
          <a:bodyPr>
            <a:normAutofit/>
          </a:bodyPr>
          <a:lstStyle/>
          <a:p>
            <a:r>
              <a:rPr lang="en-GB" b="1" dirty="0"/>
              <a:t>Project Title - </a:t>
            </a:r>
            <a:r>
              <a:rPr lang="en-US" b="1" dirty="0"/>
              <a:t>Car Market Trends Analysis using </a:t>
            </a:r>
            <a:r>
              <a:rPr lang="en-US" b="1" dirty="0" err="1"/>
              <a:t>CarDekho</a:t>
            </a:r>
            <a:r>
              <a:rPr lang="en-US" b="1" dirty="0"/>
              <a:t> Data</a:t>
            </a:r>
            <a:br>
              <a:rPr lang="en-US" sz="3200" dirty="0"/>
            </a:br>
            <a:r>
              <a:rPr lang="en-US" sz="1800" i="1" dirty="0"/>
              <a:t>A Data Analytics Case Study on Used Car Pricing Patterns</a:t>
            </a:r>
            <a:endParaRPr lang="en-IN" sz="18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458AAE-CE02-DB63-5F60-8E32CBC78497}"/>
              </a:ext>
            </a:extLst>
          </p:cNvPr>
          <p:cNvSpPr txBox="1"/>
          <p:nvPr/>
        </p:nvSpPr>
        <p:spPr>
          <a:xfrm>
            <a:off x="754602" y="1562507"/>
            <a:ext cx="74789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used-car market in India is largely unorganized, so buyers and sellers lack a data-driven benchmark for fair pricing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Resale value depends on multiple interacting factors — age, fuel type, transmission, kms driven, ownership history — that are hard to judge manually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Goal:</a:t>
            </a:r>
            <a:r>
              <a:rPr lang="en-US" sz="2400" dirty="0"/>
              <a:t> Analyze </a:t>
            </a:r>
            <a:r>
              <a:rPr lang="en-US" sz="2400" dirty="0" err="1"/>
              <a:t>CarDekho's</a:t>
            </a:r>
            <a:r>
              <a:rPr lang="en-US" sz="2400" dirty="0"/>
              <a:t> used-car listings to uncover the key drivers of resale price and quantify depreciation trends over time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9CAE29-4136-D67F-EABA-C5FE71B478BA}"/>
              </a:ext>
            </a:extLst>
          </p:cNvPr>
          <p:cNvSpPr txBox="1"/>
          <p:nvPr/>
        </p:nvSpPr>
        <p:spPr>
          <a:xfrm>
            <a:off x="675957" y="2363248"/>
            <a:ext cx="74469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sz="2400" dirty="0"/>
              <a:t>Dataset: </a:t>
            </a:r>
            <a:r>
              <a:rPr lang="en-US" sz="2400" b="1" dirty="0"/>
              <a:t>301 </a:t>
            </a:r>
            <a:r>
              <a:rPr lang="en-US" sz="2400" b="1" dirty="0" err="1"/>
              <a:t>CarDekho</a:t>
            </a:r>
            <a:r>
              <a:rPr lang="en-US" sz="2400" b="1" dirty="0"/>
              <a:t> listings</a:t>
            </a:r>
            <a:r>
              <a:rPr lang="en-US" sz="2400" dirty="0"/>
              <a:t> (2003–2018), 9 attributes — </a:t>
            </a:r>
            <a:r>
              <a:rPr lang="en-US" sz="2400" dirty="0" err="1"/>
              <a:t>Car_Name</a:t>
            </a:r>
            <a:r>
              <a:rPr lang="en-US" sz="2400" dirty="0"/>
              <a:t>, Year, </a:t>
            </a:r>
            <a:r>
              <a:rPr lang="en-US" sz="2400" dirty="0" err="1"/>
              <a:t>Selling_Price</a:t>
            </a:r>
            <a:r>
              <a:rPr lang="en-US" sz="2400" dirty="0"/>
              <a:t>, </a:t>
            </a:r>
            <a:r>
              <a:rPr lang="en-US" sz="2400" dirty="0" err="1"/>
              <a:t>Present_Price</a:t>
            </a:r>
            <a:r>
              <a:rPr lang="en-US" sz="2400" dirty="0"/>
              <a:t>, </a:t>
            </a:r>
            <a:r>
              <a:rPr lang="en-US" sz="2400" dirty="0" err="1"/>
              <a:t>Kms_Driven</a:t>
            </a:r>
            <a:r>
              <a:rPr lang="en-US" sz="2400" dirty="0"/>
              <a:t>, </a:t>
            </a:r>
            <a:r>
              <a:rPr lang="en-US" sz="2400" dirty="0" err="1"/>
              <a:t>Fuel_Type</a:t>
            </a:r>
            <a:r>
              <a:rPr lang="en-US" sz="2400" dirty="0"/>
              <a:t>, </a:t>
            </a:r>
            <a:r>
              <a:rPr lang="en-US" sz="2400" dirty="0" err="1"/>
              <a:t>Seller_Type</a:t>
            </a:r>
            <a:r>
              <a:rPr lang="en-US" sz="2400" dirty="0"/>
              <a:t>, Transmission, Owner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sz="2400" b="1" dirty="0"/>
              <a:t>Data cleaning:</a:t>
            </a:r>
            <a:r>
              <a:rPr lang="en-US" sz="2400" dirty="0"/>
              <a:t> removed 2 duplicate rows → 299 clean records; verified zero missing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E56D2-8EC1-5CFB-CD48-339ABFBD7970}"/>
              </a:ext>
            </a:extLst>
          </p:cNvPr>
          <p:cNvSpPr txBox="1"/>
          <p:nvPr/>
        </p:nvSpPr>
        <p:spPr>
          <a:xfrm>
            <a:off x="675957" y="847472"/>
            <a:ext cx="61036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018D1-8546-120F-6263-DDFC778DE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1D29CA-C0A8-2400-59A8-9CCB34118C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DDFE0C-2980-8EE3-157F-440D22762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E0DBF4-D88B-FCEE-4C02-5C2C39B3A575}"/>
              </a:ext>
            </a:extLst>
          </p:cNvPr>
          <p:cNvSpPr txBox="1"/>
          <p:nvPr/>
        </p:nvSpPr>
        <p:spPr>
          <a:xfrm>
            <a:off x="675957" y="1871656"/>
            <a:ext cx="788892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Feature engineering:</a:t>
            </a:r>
            <a:r>
              <a:rPr lang="en-US" sz="2400" dirty="0"/>
              <a:t> created </a:t>
            </a:r>
            <a:r>
              <a:rPr lang="en-US" sz="2400" dirty="0" err="1">
                <a:latin typeface="+mn-lt"/>
              </a:rPr>
              <a:t>Car_Age</a:t>
            </a:r>
            <a:r>
              <a:rPr lang="en-US" sz="2400" dirty="0"/>
              <a:t> (2024 − Year), </a:t>
            </a:r>
            <a:r>
              <a:rPr lang="en-US" sz="2400" dirty="0" err="1">
                <a:latin typeface="+mn-lt"/>
              </a:rPr>
              <a:t>Price_Depreciation</a:t>
            </a:r>
            <a:r>
              <a:rPr lang="en-US" sz="2400" dirty="0"/>
              <a:t> (Present − Selling Price), and </a:t>
            </a:r>
            <a:r>
              <a:rPr lang="en-US" sz="2400" dirty="0" err="1">
                <a:latin typeface="+mn-lt"/>
              </a:rPr>
              <a:t>Depreciation_pct</a:t>
            </a:r>
            <a:endParaRPr lang="en-US" sz="2400" dirty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EDA performed:</a:t>
            </a:r>
            <a:r>
              <a:rPr lang="en-US" sz="2400" dirty="0"/>
              <a:t> distribution plots, categorical breakdowns, year-wise trends, boxplots, scatter plots, a correlation heatmap, and top-cars analysis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Encoded categorical features (Fuel, Seller, Transmission) numerically to compute their correlation with Selling Price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44205-6A24-0B0C-03BD-5110F0163D2B}"/>
              </a:ext>
            </a:extLst>
          </p:cNvPr>
          <p:cNvSpPr txBox="1"/>
          <p:nvPr/>
        </p:nvSpPr>
        <p:spPr>
          <a:xfrm>
            <a:off x="675957" y="680948"/>
            <a:ext cx="61036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351018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557B4C-8C7F-690B-02E3-A53EE2CDA502}"/>
              </a:ext>
            </a:extLst>
          </p:cNvPr>
          <p:cNvSpPr txBox="1"/>
          <p:nvPr/>
        </p:nvSpPr>
        <p:spPr>
          <a:xfrm>
            <a:off x="620008" y="1716307"/>
            <a:ext cx="88592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Used car buyers</a:t>
            </a:r>
            <a:r>
              <a:rPr lang="en-US" sz="2400" dirty="0"/>
              <a:t> — benchmark a fair price before purchase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Individual sellers</a:t>
            </a:r>
            <a:r>
              <a:rPr lang="en-US" sz="2400" dirty="0"/>
              <a:t> — set a realistic asking price for their vehicle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Car dealerships</a:t>
            </a:r>
            <a:r>
              <a:rPr lang="en-US" sz="2400" dirty="0"/>
              <a:t> — price inventory competitively using data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 err="1"/>
              <a:t>CarDekho</a:t>
            </a:r>
            <a:r>
              <a:rPr lang="en-US" sz="2400" b="1" dirty="0"/>
              <a:t> / online marketplaces</a:t>
            </a:r>
            <a:r>
              <a:rPr lang="en-US" sz="2400" dirty="0"/>
              <a:t> — strengthen automated price-recommendation features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ML/data-analytics learners</a:t>
            </a:r>
            <a:r>
              <a:rPr lang="en-US" sz="2400" dirty="0"/>
              <a:t> — reference case study for future price-prediction models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DFB6A-8192-7D4C-CF84-57838E6602B2}"/>
              </a:ext>
            </a:extLst>
          </p:cNvPr>
          <p:cNvSpPr txBox="1"/>
          <p:nvPr/>
        </p:nvSpPr>
        <p:spPr>
          <a:xfrm>
            <a:off x="660398" y="1278383"/>
            <a:ext cx="889508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sz="2400" b="1" dirty="0"/>
              <a:t>Language:</a:t>
            </a:r>
            <a:r>
              <a:rPr lang="en-US" sz="2400" dirty="0"/>
              <a:t> Python 3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sz="2400" b="1" dirty="0"/>
              <a:t>Environment:</a:t>
            </a:r>
            <a:r>
              <a:rPr lang="en-US" sz="2400" dirty="0"/>
              <a:t> Jupyter Notebook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sz="2400" b="1" dirty="0"/>
              <a:t>Libraries:</a:t>
            </a:r>
            <a:r>
              <a:rPr lang="en-US" sz="2400" dirty="0"/>
              <a:t> 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Pandas</a:t>
            </a:r>
            <a:r>
              <a:rPr lang="en-US" sz="2400" dirty="0"/>
              <a:t>, </a:t>
            </a:r>
            <a:r>
              <a:rPr lang="en-US" sz="2400" dirty="0">
                <a:latin typeface="+mn-lt"/>
              </a:rPr>
              <a:t>NumPy</a:t>
            </a:r>
            <a:r>
              <a:rPr lang="en-US" sz="2400" dirty="0"/>
              <a:t> – data cleaning, feature engineering, aggregation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Matplotlib</a:t>
            </a:r>
            <a:r>
              <a:rPr lang="en-US" sz="2400" dirty="0"/>
              <a:t>, </a:t>
            </a:r>
            <a:r>
              <a:rPr lang="en-US" sz="2400" dirty="0">
                <a:latin typeface="+mn-lt"/>
              </a:rPr>
              <a:t>Seaborn</a:t>
            </a:r>
            <a:r>
              <a:rPr lang="en-US" sz="2400" dirty="0"/>
              <a:t> – histograms, box plots, pie charts, heatmaps, scatter plots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sz="2400" b="1" dirty="0"/>
              <a:t>Techniques:</a:t>
            </a:r>
            <a:r>
              <a:rPr lang="en-US" sz="2400" dirty="0"/>
              <a:t> Exploratory Data Analysis (EDA), feature engineering, </a:t>
            </a:r>
            <a:r>
              <a:rPr lang="en-US" sz="2400" dirty="0" err="1"/>
              <a:t>groupby</a:t>
            </a:r>
            <a:r>
              <a:rPr lang="en-US" sz="2400" dirty="0"/>
              <a:t> aggregation, Pearson correlation analysis, categorical encoding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C50E97-17F4-2E3E-B841-E25CFF583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18" y="1275371"/>
            <a:ext cx="5262182" cy="2676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119B93-1D8B-951F-A5C0-442B76EE3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021" y="1275372"/>
            <a:ext cx="5165385" cy="26763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88595E-BF77-14B7-8E64-CB4566483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18" y="4031056"/>
            <a:ext cx="5262182" cy="27495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015184-4D18-FF4A-44D9-5557B07B1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021" y="4081709"/>
            <a:ext cx="5165385" cy="270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ABC34-1B9C-663D-3B51-B3A80350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C00D1A-E4F9-960E-ED1B-035A9C110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9E3EAD4-128D-2BFD-8CFA-5AA288B7E4E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C355B8-6116-1338-0F08-9CF5D1091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9" y="433607"/>
            <a:ext cx="5726355" cy="29904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F60BA5-51E1-9455-0A3D-A728EAB28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469" y="433607"/>
            <a:ext cx="5738646" cy="29876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F69661-ED2A-9426-39AE-A766E1BF6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39" y="3679425"/>
            <a:ext cx="5726355" cy="2985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C5925D-24DD-99D9-7309-1EADDB9C68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07" y="3679425"/>
            <a:ext cx="5726353" cy="298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6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5F8D5-6B70-BFE4-151E-34774E53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364FFF-6412-AD20-78CC-DE1350F2F9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79E1F2-0D0E-CDBD-2BC2-73622D6E2B78}"/>
              </a:ext>
            </a:extLst>
          </p:cNvPr>
          <p:cNvSpPr txBox="1"/>
          <p:nvPr/>
        </p:nvSpPr>
        <p:spPr>
          <a:xfrm>
            <a:off x="675957" y="720468"/>
            <a:ext cx="112575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US" b="1" dirty="0"/>
              <a:t>Dataset Summary (after cleaning, n = 299):</a:t>
            </a:r>
          </a:p>
          <a:p>
            <a:pPr algn="just" rtl="0">
              <a:buNone/>
            </a:pPr>
            <a:endParaRPr lang="en-US" dirty="0"/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Year range: </a:t>
            </a:r>
            <a:r>
              <a:rPr lang="en-US" b="1" dirty="0"/>
              <a:t>2003–2018</a:t>
            </a:r>
            <a:r>
              <a:rPr lang="en-US" dirty="0"/>
              <a:t> | Avg selling price: </a:t>
            </a:r>
            <a:r>
              <a:rPr lang="en-US" b="1" dirty="0"/>
              <a:t>₹4.59L</a:t>
            </a:r>
            <a:r>
              <a:rPr lang="en-US" dirty="0"/>
              <a:t> | Max: </a:t>
            </a:r>
            <a:r>
              <a:rPr lang="en-US" b="1" dirty="0"/>
              <a:t>₹35L</a:t>
            </a:r>
            <a:endParaRPr lang="en-US" dirty="0"/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Avg kms driven: </a:t>
            </a:r>
            <a:r>
              <a:rPr lang="en-US" b="1" dirty="0"/>
              <a:t>36,917 km</a:t>
            </a:r>
            <a:r>
              <a:rPr lang="en-US" dirty="0"/>
              <a:t> | Avg car age: </a:t>
            </a:r>
            <a:r>
              <a:rPr lang="en-US" b="1" dirty="0"/>
              <a:t>10.4 years</a:t>
            </a:r>
            <a:r>
              <a:rPr lang="en-US" dirty="0"/>
              <a:t> | Avg depreciation: </a:t>
            </a:r>
            <a:r>
              <a:rPr lang="en-US" b="1" dirty="0"/>
              <a:t>36.62%</a:t>
            </a:r>
            <a:endParaRPr lang="en-US" dirty="0"/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Most common fuel: </a:t>
            </a:r>
            <a:r>
              <a:rPr lang="en-US" b="1" dirty="0"/>
              <a:t>Petrol</a:t>
            </a:r>
            <a:r>
              <a:rPr lang="en-US" dirty="0"/>
              <a:t> | Most common transmission: </a:t>
            </a:r>
            <a:r>
              <a:rPr lang="en-US" b="1" dirty="0"/>
              <a:t>Manual</a:t>
            </a:r>
            <a:r>
              <a:rPr lang="en-US" dirty="0"/>
              <a:t> | Most listed car: </a:t>
            </a:r>
            <a:r>
              <a:rPr lang="en-US" b="1" dirty="0"/>
              <a:t>City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B4E2D-3900-8BD8-FD5F-4BA6617FACEA}"/>
              </a:ext>
            </a:extLst>
          </p:cNvPr>
          <p:cNvSpPr txBox="1"/>
          <p:nvPr/>
        </p:nvSpPr>
        <p:spPr>
          <a:xfrm>
            <a:off x="675957" y="2472003"/>
            <a:ext cx="98107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US" b="1" dirty="0"/>
              <a:t>Key Insights:</a:t>
            </a:r>
          </a:p>
          <a:p>
            <a:pPr algn="just" rtl="0">
              <a:buNone/>
            </a:pPr>
            <a:endParaRPr lang="en-US" dirty="0"/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Petrol dominates listings; CNG cars are rare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Newer cars command significantly higher selling prices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Depreciation is steepest in early years — averaging 30–60% loss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Automatic cars sell at a clear premium over Manual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Dealers price cars higher on average than individual sellers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Higher kms driven correlates with lower selling price (negative correlation)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First-owner cars fetch the highest average resale price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US" dirty="0"/>
              <a:t>Diesel cars command a premium over Petrol in the resale market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B242D-71DC-A382-1A86-1AA00FC22B7B}"/>
              </a:ext>
            </a:extLst>
          </p:cNvPr>
          <p:cNvSpPr txBox="1"/>
          <p:nvPr/>
        </p:nvSpPr>
        <p:spPr>
          <a:xfrm>
            <a:off x="675957" y="5828381"/>
            <a:ext cx="1349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hlinkClick r:id="rId3"/>
              </a:rPr>
              <a:t>Demo Link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100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116DC6-D297-C475-1BF5-D17BB5705772}"/>
              </a:ext>
            </a:extLst>
          </p:cNvPr>
          <p:cNvSpPr txBox="1"/>
          <p:nvPr/>
        </p:nvSpPr>
        <p:spPr>
          <a:xfrm>
            <a:off x="4341465" y="1573247"/>
            <a:ext cx="3509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Questions &amp; Feedback Welcome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805E7-6092-FC55-9CC6-A48EA1581C9B}"/>
              </a:ext>
            </a:extLst>
          </p:cNvPr>
          <p:cNvSpPr txBox="1"/>
          <p:nvPr/>
        </p:nvSpPr>
        <p:spPr>
          <a:xfrm>
            <a:off x="878337" y="5575883"/>
            <a:ext cx="610564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Email : a74441174@gmail.com</a:t>
            </a:r>
          </a:p>
          <a:p>
            <a:r>
              <a:rPr lang="en-US" sz="2800" b="1" dirty="0">
                <a:hlinkClick r:id="rId3"/>
              </a:rPr>
              <a:t>LinkedIn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590</TotalTime>
  <Words>517</Words>
  <Application>Microsoft Office PowerPoint</Application>
  <PresentationFormat>Widescreen</PresentationFormat>
  <Paragraphs>65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</vt:lpstr>
      <vt:lpstr>Project Title - Car Market Trends Analysis using CarDekho Data A Data Analytics Case Study on Used Car Pricing Patterns</vt:lpstr>
      <vt:lpstr>PROBLEM  STATEMENT</vt:lpstr>
      <vt:lpstr>PowerPoint Presentation</vt:lpstr>
      <vt:lpstr>PowerPoint Presentation</vt:lpstr>
      <vt:lpstr>WHO ARE THE END USERS?</vt:lpstr>
      <vt:lpstr>Technology Used</vt:lpstr>
      <vt:lpstr>RESULTS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Amit Kushwahaa</cp:lastModifiedBy>
  <cp:revision>75</cp:revision>
  <dcterms:created xsi:type="dcterms:W3CDTF">2021-07-11T13:13:15Z</dcterms:created>
  <dcterms:modified xsi:type="dcterms:W3CDTF">2026-08-30T12:16:35Z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