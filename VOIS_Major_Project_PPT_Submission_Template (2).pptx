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47" r:id="rId8"/>
    <p:sldId id="329" r:id="rId9"/>
    <p:sldId id="302" r:id="rId10"/>
    <p:sldId id="349" r:id="rId11"/>
    <p:sldId id="339" r:id="rId12"/>
    <p:sldId id="348" r:id="rId13"/>
    <p:sldId id="351"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mitkushwaha328/VOIS-and-Vodafone-Idea-Foundation-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www.linkedin.com/in/amitkushwaha328/"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56253" y="3057276"/>
            <a:ext cx="10879493" cy="743448"/>
          </a:xfrm>
        </p:spPr>
        <p:txBody>
          <a:bodyPr>
            <a:normAutofit/>
          </a:bodyPr>
          <a:lstStyle/>
          <a:p>
            <a:r>
              <a:rPr lang="en-GB" sz="3200" b="1" dirty="0"/>
              <a:t>Project Title </a:t>
            </a:r>
            <a:r>
              <a:rPr lang="en-GB" sz="3200" dirty="0"/>
              <a:t>-</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28792" y="2766009"/>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Box 9">
            <a:extLst>
              <a:ext uri="{FF2B5EF4-FFF2-40B4-BE49-F238E27FC236}">
                <a16:creationId xmlns:a16="http://schemas.microsoft.com/office/drawing/2014/main" id="{3E4A0096-DB4D-E997-5258-B6D57420AF58}"/>
              </a:ext>
            </a:extLst>
          </p:cNvPr>
          <p:cNvSpPr txBox="1"/>
          <p:nvPr/>
        </p:nvSpPr>
        <p:spPr>
          <a:xfrm>
            <a:off x="656253" y="5187632"/>
            <a:ext cx="6102220" cy="1477328"/>
          </a:xfrm>
          <a:prstGeom prst="rect">
            <a:avLst/>
          </a:prstGeom>
          <a:noFill/>
        </p:spPr>
        <p:txBody>
          <a:bodyPr wrap="square">
            <a:spAutoFit/>
          </a:bodyPr>
          <a:lstStyle/>
          <a:p>
            <a:r>
              <a:rPr lang="en-US" b="1" dirty="0"/>
              <a:t>Student Name:</a:t>
            </a:r>
            <a:r>
              <a:rPr lang="en-US" dirty="0"/>
              <a:t> Amit Rajendra Kushwaha</a:t>
            </a:r>
          </a:p>
          <a:p>
            <a:br>
              <a:rPr lang="en-US" dirty="0"/>
            </a:br>
            <a:r>
              <a:rPr lang="en-US" b="1" dirty="0"/>
              <a:t>College Name:</a:t>
            </a:r>
            <a:r>
              <a:rPr lang="en-US" dirty="0"/>
              <a:t> Silver Oak University</a:t>
            </a:r>
          </a:p>
          <a:p>
            <a:br>
              <a:rPr lang="en-US" dirty="0"/>
            </a:br>
            <a:r>
              <a:rPr lang="en-US" b="1" dirty="0"/>
              <a:t>AICTE STU ID:</a:t>
            </a:r>
            <a:r>
              <a:rPr lang="en-US" dirty="0"/>
              <a:t> </a:t>
            </a:r>
            <a:r>
              <a:rPr lang="en-US" i="1" dirty="0"/>
              <a:t>STU67a830e92f94c1739075817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1" y="1707605"/>
            <a:ext cx="7241083" cy="4338632"/>
          </a:xfrm>
        </p:spPr>
        <p:txBody>
          <a:bodyPr vert="horz" lIns="91440" tIns="45720" rIns="91440" bIns="45720" rtlCol="0" anchor="t">
            <a:normAutofit fontScale="850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CC9DC78F-6126-0B60-F55E-232D6B69302D}"/>
              </a:ext>
            </a:extLst>
          </p:cNvPr>
          <p:cNvSpPr txBox="1"/>
          <p:nvPr/>
        </p:nvSpPr>
        <p:spPr>
          <a:xfrm>
            <a:off x="675957" y="795844"/>
            <a:ext cx="4914538" cy="723275"/>
          </a:xfrm>
          <a:prstGeom prst="rect">
            <a:avLst/>
          </a:prstGeom>
          <a:noFill/>
        </p:spPr>
        <p:txBody>
          <a:bodyPr wrap="square">
            <a:spAutoFit/>
          </a:bodyPr>
          <a:lstStyle/>
          <a:p>
            <a:r>
              <a:rPr lang="en-US" sz="4100" b="1" dirty="0"/>
              <a:t>Project</a:t>
            </a:r>
            <a:r>
              <a:rPr lang="en-US" sz="4100" dirty="0"/>
              <a:t> </a:t>
            </a:r>
            <a:r>
              <a:rPr lang="en-US" sz="4100" b="1" dirty="0"/>
              <a:t>Description</a:t>
            </a:r>
          </a:p>
        </p:txBody>
      </p:sp>
      <p:sp>
        <p:nvSpPr>
          <p:cNvPr id="10" name="TextBox 9">
            <a:extLst>
              <a:ext uri="{FF2B5EF4-FFF2-40B4-BE49-F238E27FC236}">
                <a16:creationId xmlns:a16="http://schemas.microsoft.com/office/drawing/2014/main" id="{59A6FF1B-D340-D1B1-51C7-48271D3F87CD}"/>
              </a:ext>
            </a:extLst>
          </p:cNvPr>
          <p:cNvSpPr txBox="1"/>
          <p:nvPr/>
        </p:nvSpPr>
        <p:spPr>
          <a:xfrm>
            <a:off x="675957" y="2111674"/>
            <a:ext cx="8206786" cy="2862322"/>
          </a:xfrm>
          <a:prstGeom prst="rect">
            <a:avLst/>
          </a:prstGeom>
          <a:noFill/>
        </p:spPr>
        <p:txBody>
          <a:bodyPr wrap="square">
            <a:spAutoFit/>
          </a:bodyPr>
          <a:lstStyle/>
          <a:p>
            <a:pPr algn="just" rtl="0">
              <a:buNone/>
            </a:pPr>
            <a:r>
              <a:rPr lang="en-US" dirty="0"/>
              <a:t>This project analyzes a seasonal agriculture performance dataset covering 4,000 farm records across Kharif, Rabi, and Zaid seasons, spanning multiple states, districts, and crops. The dataset includes environmental variables (rainfall, temperature, humidity, soil moisture), resource usage (NPK fertilizer, irrigation, water consumption), and economic indicators (cost, revenue, profit, ROI).</a:t>
            </a:r>
          </a:p>
          <a:p>
            <a:pPr algn="just" rtl="0">
              <a:buNone/>
            </a:pPr>
            <a:endParaRPr lang="en-US" dirty="0"/>
          </a:p>
          <a:p>
            <a:pPr algn="just" rtl="0">
              <a:buNone/>
            </a:pPr>
            <a:r>
              <a:rPr lang="en-US" dirty="0"/>
              <a:t>The objective was to identify how agricultural performance varies across seasons and uncover the key drivers behind that variation. The workflow followed a structured data analytics pipeline:</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BA9CD746-3597-DA9C-1DFE-7B3A358BFC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AA4C82-5F63-3423-4F8A-7AF83F500E9A}"/>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EBBAB411-B433-D753-4D46-3173FAFB671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9E11AC19-63BA-12BA-98AA-10185E068B5D}"/>
              </a:ext>
            </a:extLst>
          </p:cNvPr>
          <p:cNvSpPr txBox="1"/>
          <p:nvPr/>
        </p:nvSpPr>
        <p:spPr>
          <a:xfrm>
            <a:off x="675957" y="452552"/>
            <a:ext cx="4914538" cy="723275"/>
          </a:xfrm>
          <a:prstGeom prst="rect">
            <a:avLst/>
          </a:prstGeom>
          <a:noFill/>
        </p:spPr>
        <p:txBody>
          <a:bodyPr wrap="square">
            <a:spAutoFit/>
          </a:bodyPr>
          <a:lstStyle/>
          <a:p>
            <a:r>
              <a:rPr lang="en-US" sz="4100" b="1" dirty="0"/>
              <a:t>Project</a:t>
            </a:r>
            <a:r>
              <a:rPr lang="en-US" sz="4100" dirty="0"/>
              <a:t> </a:t>
            </a:r>
            <a:r>
              <a:rPr lang="en-US" sz="4100" b="1" dirty="0"/>
              <a:t>Description</a:t>
            </a:r>
          </a:p>
        </p:txBody>
      </p:sp>
      <p:sp>
        <p:nvSpPr>
          <p:cNvPr id="3" name="TextBox 2">
            <a:extLst>
              <a:ext uri="{FF2B5EF4-FFF2-40B4-BE49-F238E27FC236}">
                <a16:creationId xmlns:a16="http://schemas.microsoft.com/office/drawing/2014/main" id="{224A35C2-CAC8-0A1D-64B3-8B9F2B056B64}"/>
              </a:ext>
            </a:extLst>
          </p:cNvPr>
          <p:cNvSpPr txBox="1"/>
          <p:nvPr/>
        </p:nvSpPr>
        <p:spPr>
          <a:xfrm>
            <a:off x="675957" y="1362877"/>
            <a:ext cx="7702933" cy="5078313"/>
          </a:xfrm>
          <a:prstGeom prst="rect">
            <a:avLst/>
          </a:prstGeom>
          <a:noFill/>
        </p:spPr>
        <p:txBody>
          <a:bodyPr wrap="square">
            <a:spAutoFit/>
          </a:bodyPr>
          <a:lstStyle/>
          <a:p>
            <a:pPr marL="342900" lvl="0" indent="-342900" algn="just">
              <a:buFont typeface="Arial" panose="020B0604020202020204" pitchFamily="34" charset="0"/>
              <a:buChar char="•"/>
            </a:pPr>
            <a:r>
              <a:rPr lang="en-US" b="1" dirty="0"/>
              <a:t>Data Cleaning &amp; Feature Engineering</a:t>
            </a:r>
            <a:r>
              <a:rPr lang="en-US" dirty="0"/>
              <a:t> — handled missing values and engineered new metrics such as Cost per Hectare, Revenue per Hectare, NPK Total, and a Profitability flag.</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Exploratory Data Analysis</a:t>
            </a:r>
            <a:r>
              <a:rPr lang="en-US" dirty="0"/>
              <a:t> — compared yield, cost, revenue, and resource usage across the three seasons using visualizations (bar plots, violin plots, correlation heatmaps).</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Statistical Testing</a:t>
            </a:r>
            <a:r>
              <a:rPr lang="en-US" dirty="0"/>
              <a:t> — ran One-Way ANOVA to confirm whether seasonal differences in ROI, rainfall, and disease/pest risk were statistically significant.</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Machine Learning</a:t>
            </a:r>
            <a:r>
              <a:rPr lang="en-US" dirty="0"/>
              <a:t> — used a Random Forest Regressor to rank the features most predictive of crop yield.</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Insight Synthesis</a:t>
            </a:r>
            <a:r>
              <a:rPr lang="en-US" dirty="0"/>
              <a:t> — translated the statistical and ML findings into actionable, evidence-based recommendations for farmers and policymakers.</a:t>
            </a:r>
          </a:p>
        </p:txBody>
      </p:sp>
    </p:spTree>
    <p:extLst>
      <p:ext uri="{BB962C8B-B14F-4D97-AF65-F5344CB8AC3E}">
        <p14:creationId xmlns:p14="http://schemas.microsoft.com/office/powerpoint/2010/main" val="688414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599006"/>
            <a:ext cx="529560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15C35F8B-D7FA-95BF-D347-E2A32EEFC0B0}"/>
              </a:ext>
            </a:extLst>
          </p:cNvPr>
          <p:cNvSpPr txBox="1"/>
          <p:nvPr/>
        </p:nvSpPr>
        <p:spPr>
          <a:xfrm>
            <a:off x="721359" y="1669927"/>
            <a:ext cx="8609253" cy="3970318"/>
          </a:xfrm>
          <a:prstGeom prst="rect">
            <a:avLst/>
          </a:prstGeom>
          <a:noFill/>
        </p:spPr>
        <p:txBody>
          <a:bodyPr wrap="square">
            <a:spAutoFit/>
          </a:bodyPr>
          <a:lstStyle/>
          <a:p>
            <a:pPr marL="342900" lvl="0" indent="-342900" algn="just">
              <a:buFont typeface="Arial" panose="020B0604020202020204" pitchFamily="34" charset="0"/>
              <a:buChar char="•"/>
            </a:pPr>
            <a:r>
              <a:rPr lang="en-US" b="1" dirty="0"/>
              <a:t>Farmers &amp; Agricultural Cooperatives</a:t>
            </a:r>
            <a:r>
              <a:rPr lang="en-US" dirty="0"/>
              <a:t> — to plan crop choice, irrigation, and input usage by season</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Government Agricultural Departments / Extension Officers</a:t>
            </a:r>
            <a:r>
              <a:rPr lang="en-US" dirty="0"/>
              <a:t> — to design season-specific subsidy and support programs</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Agri-input Companies</a:t>
            </a:r>
            <a:r>
              <a:rPr lang="en-US" dirty="0"/>
              <a:t> — to time fertilizer, seed, and pesticide distribution to seasonal demand</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Agricultural Researchers &amp; Policy Analysts</a:t>
            </a:r>
            <a:r>
              <a:rPr lang="en-US" dirty="0"/>
              <a:t> — to study seasonal performance trends for planning</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Banks / Crop Insurance Providers</a:t>
            </a:r>
            <a:r>
              <a:rPr lang="en-US" dirty="0"/>
              <a:t> — to assess seasonal risk (e.g., disease/pest risk in Kharif) for lending and insurance pricing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561196"/>
            <a:ext cx="5306291" cy="847817"/>
          </a:xfrm>
        </p:spPr>
        <p:txBody>
          <a:bodyPr>
            <a:normAutofit/>
          </a:bodyPr>
          <a:lstStyle/>
          <a:p>
            <a:r>
              <a:rPr lang="en-US" dirty="0"/>
              <a:t>Technology Used</a:t>
            </a:r>
          </a:p>
        </p:txBody>
      </p:sp>
      <p:sp>
        <p:nvSpPr>
          <p:cNvPr id="4" name="TextBox 3">
            <a:extLst>
              <a:ext uri="{FF2B5EF4-FFF2-40B4-BE49-F238E27FC236}">
                <a16:creationId xmlns:a16="http://schemas.microsoft.com/office/drawing/2014/main" id="{BEC4FA37-2E08-ADA3-0C92-A3EDDCEFD99B}"/>
              </a:ext>
            </a:extLst>
          </p:cNvPr>
          <p:cNvSpPr txBox="1"/>
          <p:nvPr/>
        </p:nvSpPr>
        <p:spPr>
          <a:xfrm>
            <a:off x="467359" y="1839436"/>
            <a:ext cx="7771572" cy="3416320"/>
          </a:xfrm>
          <a:prstGeom prst="rect">
            <a:avLst/>
          </a:prstGeom>
          <a:noFill/>
        </p:spPr>
        <p:txBody>
          <a:bodyPr wrap="square">
            <a:spAutoFit/>
          </a:bodyPr>
          <a:lstStyle/>
          <a:p>
            <a:pPr marL="342900" lvl="0" indent="-342900" algn="just">
              <a:buFont typeface="Arial" panose="020B0604020202020204" pitchFamily="34" charset="0"/>
              <a:buChar char="•"/>
            </a:pPr>
            <a:r>
              <a:rPr lang="en-US" b="1" dirty="0"/>
              <a:t>Language:</a:t>
            </a:r>
            <a:r>
              <a:rPr lang="en-US" dirty="0"/>
              <a:t> Python 3</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Data Handling:</a:t>
            </a:r>
            <a:r>
              <a:rPr lang="en-US" dirty="0"/>
              <a:t> Pandas, NumPy</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Visualization:</a:t>
            </a:r>
            <a:r>
              <a:rPr lang="en-US" dirty="0"/>
              <a:t> Matplotlib, Seaborn</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Statistical Analysis:</a:t>
            </a:r>
            <a:r>
              <a:rPr lang="en-US" dirty="0"/>
              <a:t> SciPy (One-Way ANOVA, Kruskal-Wallis test)</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Machine Learning:</a:t>
            </a:r>
            <a:r>
              <a:rPr lang="en-US" dirty="0"/>
              <a:t> Scikit-learn (Random Forest Regressor, Label Encoding, Train-Test Split)</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b="1" dirty="0"/>
              <a:t>Environment:</a:t>
            </a:r>
            <a:r>
              <a:rPr lang="en-US" dirty="0"/>
              <a:t> Jupyter Notebook</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168A-B064-98BA-E04C-EACF3EB24F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2C2C23-07A4-3BE5-2E00-37923B6D251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995109-A0B7-81E1-6AC9-E68DF120FE79}"/>
              </a:ext>
            </a:extLst>
          </p:cNvPr>
          <p:cNvSpPr>
            <a:spLocks noGrp="1"/>
          </p:cNvSpPr>
          <p:nvPr>
            <p:ph type="title"/>
          </p:nvPr>
        </p:nvSpPr>
        <p:spPr>
          <a:xfrm>
            <a:off x="675957" y="2598003"/>
            <a:ext cx="2981643" cy="830997"/>
          </a:xfrm>
        </p:spPr>
        <p:txBody>
          <a:bodyPr>
            <a:normAutofit fontScale="90000"/>
          </a:bodyPr>
          <a:lstStyle/>
          <a:p>
            <a:r>
              <a:rPr lang="en-GB" dirty="0"/>
              <a:t>RESULTS : </a:t>
            </a:r>
            <a:endParaRPr lang="en-IN" dirty="0"/>
          </a:p>
        </p:txBody>
      </p:sp>
      <p:sp>
        <p:nvSpPr>
          <p:cNvPr id="8" name="Text Placeholder 30">
            <a:extLst>
              <a:ext uri="{FF2B5EF4-FFF2-40B4-BE49-F238E27FC236}">
                <a16:creationId xmlns:a16="http://schemas.microsoft.com/office/drawing/2014/main" id="{C992D3A0-94FE-102F-7616-190A7F6DB22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B2FC6D5-5673-5BBA-4020-DB05F14D2D08}"/>
              </a:ext>
            </a:extLst>
          </p:cNvPr>
          <p:cNvPicPr>
            <a:picLocks noChangeAspect="1"/>
          </p:cNvPicPr>
          <p:nvPr/>
        </p:nvPicPr>
        <p:blipFill>
          <a:blip r:embed="rId3"/>
          <a:stretch>
            <a:fillRect/>
          </a:stretch>
        </p:blipFill>
        <p:spPr>
          <a:xfrm>
            <a:off x="3988325" y="466181"/>
            <a:ext cx="6678286" cy="2950536"/>
          </a:xfrm>
          <a:prstGeom prst="rect">
            <a:avLst/>
          </a:prstGeom>
        </p:spPr>
      </p:pic>
      <p:pic>
        <p:nvPicPr>
          <p:cNvPr id="7" name="Picture 6">
            <a:extLst>
              <a:ext uri="{FF2B5EF4-FFF2-40B4-BE49-F238E27FC236}">
                <a16:creationId xmlns:a16="http://schemas.microsoft.com/office/drawing/2014/main" id="{E58FE237-73AB-C842-3C25-DE60E47B4A65}"/>
              </a:ext>
            </a:extLst>
          </p:cNvPr>
          <p:cNvPicPr>
            <a:picLocks noChangeAspect="1"/>
          </p:cNvPicPr>
          <p:nvPr/>
        </p:nvPicPr>
        <p:blipFill>
          <a:blip r:embed="rId4"/>
          <a:stretch>
            <a:fillRect/>
          </a:stretch>
        </p:blipFill>
        <p:spPr>
          <a:xfrm>
            <a:off x="3988325" y="3582951"/>
            <a:ext cx="6678286" cy="3082009"/>
          </a:xfrm>
          <a:prstGeom prst="rect">
            <a:avLst/>
          </a:prstGeom>
        </p:spPr>
      </p:pic>
    </p:spTree>
    <p:extLst>
      <p:ext uri="{BB962C8B-B14F-4D97-AF65-F5344CB8AC3E}">
        <p14:creationId xmlns:p14="http://schemas.microsoft.com/office/powerpoint/2010/main" val="350695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85A3B50-A896-9CD3-9B8F-B323DF53C9E0}"/>
              </a:ext>
            </a:extLst>
          </p:cNvPr>
          <p:cNvPicPr>
            <a:picLocks noChangeAspect="1"/>
          </p:cNvPicPr>
          <p:nvPr/>
        </p:nvPicPr>
        <p:blipFill>
          <a:blip r:embed="rId3"/>
          <a:stretch>
            <a:fillRect/>
          </a:stretch>
        </p:blipFill>
        <p:spPr>
          <a:xfrm>
            <a:off x="730522" y="1283404"/>
            <a:ext cx="5365478" cy="2145596"/>
          </a:xfrm>
          <a:prstGeom prst="rect">
            <a:avLst/>
          </a:prstGeom>
        </p:spPr>
      </p:pic>
      <p:pic>
        <p:nvPicPr>
          <p:cNvPr id="11" name="Picture 10">
            <a:extLst>
              <a:ext uri="{FF2B5EF4-FFF2-40B4-BE49-F238E27FC236}">
                <a16:creationId xmlns:a16="http://schemas.microsoft.com/office/drawing/2014/main" id="{B4145DD6-0F02-A6D4-6DCB-C2F8D3588E6A}"/>
              </a:ext>
            </a:extLst>
          </p:cNvPr>
          <p:cNvPicPr>
            <a:picLocks noChangeAspect="1"/>
          </p:cNvPicPr>
          <p:nvPr/>
        </p:nvPicPr>
        <p:blipFill>
          <a:blip r:embed="rId4"/>
          <a:stretch>
            <a:fillRect/>
          </a:stretch>
        </p:blipFill>
        <p:spPr>
          <a:xfrm>
            <a:off x="730522" y="4080335"/>
            <a:ext cx="5365478" cy="1808067"/>
          </a:xfrm>
          <a:prstGeom prst="rect">
            <a:avLst/>
          </a:prstGeom>
        </p:spPr>
      </p:pic>
      <p:pic>
        <p:nvPicPr>
          <p:cNvPr id="13" name="Picture 12">
            <a:extLst>
              <a:ext uri="{FF2B5EF4-FFF2-40B4-BE49-F238E27FC236}">
                <a16:creationId xmlns:a16="http://schemas.microsoft.com/office/drawing/2014/main" id="{02FBDF39-8EA6-7E4E-6819-D856BD7D8892}"/>
              </a:ext>
            </a:extLst>
          </p:cNvPr>
          <p:cNvPicPr>
            <a:picLocks noChangeAspect="1"/>
          </p:cNvPicPr>
          <p:nvPr/>
        </p:nvPicPr>
        <p:blipFill>
          <a:blip r:embed="rId5"/>
          <a:stretch>
            <a:fillRect/>
          </a:stretch>
        </p:blipFill>
        <p:spPr>
          <a:xfrm>
            <a:off x="6267699" y="2037584"/>
            <a:ext cx="5810836" cy="973307"/>
          </a:xfrm>
          <a:prstGeom prst="rect">
            <a:avLst/>
          </a:prstGeom>
        </p:spPr>
      </p:pic>
      <p:pic>
        <p:nvPicPr>
          <p:cNvPr id="15" name="Picture 14">
            <a:extLst>
              <a:ext uri="{FF2B5EF4-FFF2-40B4-BE49-F238E27FC236}">
                <a16:creationId xmlns:a16="http://schemas.microsoft.com/office/drawing/2014/main" id="{771FA378-D28D-06FD-DE10-7B8001DF675D}"/>
              </a:ext>
            </a:extLst>
          </p:cNvPr>
          <p:cNvPicPr>
            <a:picLocks noChangeAspect="1"/>
          </p:cNvPicPr>
          <p:nvPr/>
        </p:nvPicPr>
        <p:blipFill>
          <a:blip r:embed="rId6"/>
          <a:stretch>
            <a:fillRect/>
          </a:stretch>
        </p:blipFill>
        <p:spPr>
          <a:xfrm>
            <a:off x="6437276" y="3582955"/>
            <a:ext cx="5471683" cy="230544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BE38C-72C2-7623-E72A-46065C1568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BA2C3D-DD42-1A7E-F2D8-CA5067FD6A3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 Placeholder 30">
            <a:extLst>
              <a:ext uri="{FF2B5EF4-FFF2-40B4-BE49-F238E27FC236}">
                <a16:creationId xmlns:a16="http://schemas.microsoft.com/office/drawing/2014/main" id="{5D7285FF-68A4-9541-142C-2ED6EB8D723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 name="Picture 6">
            <a:extLst>
              <a:ext uri="{FF2B5EF4-FFF2-40B4-BE49-F238E27FC236}">
                <a16:creationId xmlns:a16="http://schemas.microsoft.com/office/drawing/2014/main" id="{ABC3011E-C09C-27AA-B863-0F215BCC8809}"/>
              </a:ext>
            </a:extLst>
          </p:cNvPr>
          <p:cNvPicPr>
            <a:picLocks noChangeAspect="1"/>
          </p:cNvPicPr>
          <p:nvPr/>
        </p:nvPicPr>
        <p:blipFill>
          <a:blip r:embed="rId3"/>
          <a:stretch>
            <a:fillRect/>
          </a:stretch>
        </p:blipFill>
        <p:spPr>
          <a:xfrm>
            <a:off x="414699" y="911265"/>
            <a:ext cx="5512236" cy="2289135"/>
          </a:xfrm>
          <a:prstGeom prst="rect">
            <a:avLst/>
          </a:prstGeom>
        </p:spPr>
      </p:pic>
      <p:pic>
        <p:nvPicPr>
          <p:cNvPr id="10" name="Picture 9">
            <a:extLst>
              <a:ext uri="{FF2B5EF4-FFF2-40B4-BE49-F238E27FC236}">
                <a16:creationId xmlns:a16="http://schemas.microsoft.com/office/drawing/2014/main" id="{56EE4900-585F-B845-DF4A-DC11178268A3}"/>
              </a:ext>
            </a:extLst>
          </p:cNvPr>
          <p:cNvPicPr>
            <a:picLocks noChangeAspect="1"/>
          </p:cNvPicPr>
          <p:nvPr/>
        </p:nvPicPr>
        <p:blipFill>
          <a:blip r:embed="rId4"/>
          <a:stretch>
            <a:fillRect/>
          </a:stretch>
        </p:blipFill>
        <p:spPr>
          <a:xfrm>
            <a:off x="414699" y="3939526"/>
            <a:ext cx="5512236" cy="2302032"/>
          </a:xfrm>
          <a:prstGeom prst="rect">
            <a:avLst/>
          </a:prstGeom>
        </p:spPr>
      </p:pic>
      <p:pic>
        <p:nvPicPr>
          <p:cNvPr id="12" name="Picture 11">
            <a:extLst>
              <a:ext uri="{FF2B5EF4-FFF2-40B4-BE49-F238E27FC236}">
                <a16:creationId xmlns:a16="http://schemas.microsoft.com/office/drawing/2014/main" id="{F57D53D8-182A-277E-5637-98FF7A3682A4}"/>
              </a:ext>
            </a:extLst>
          </p:cNvPr>
          <p:cNvPicPr>
            <a:picLocks noChangeAspect="1"/>
          </p:cNvPicPr>
          <p:nvPr/>
        </p:nvPicPr>
        <p:blipFill>
          <a:blip r:embed="rId5"/>
          <a:stretch>
            <a:fillRect/>
          </a:stretch>
        </p:blipFill>
        <p:spPr>
          <a:xfrm>
            <a:off x="6636673" y="911265"/>
            <a:ext cx="4880966" cy="2289135"/>
          </a:xfrm>
          <a:prstGeom prst="rect">
            <a:avLst/>
          </a:prstGeom>
        </p:spPr>
      </p:pic>
      <p:pic>
        <p:nvPicPr>
          <p:cNvPr id="14" name="Picture 13">
            <a:extLst>
              <a:ext uri="{FF2B5EF4-FFF2-40B4-BE49-F238E27FC236}">
                <a16:creationId xmlns:a16="http://schemas.microsoft.com/office/drawing/2014/main" id="{4F3FEF9D-D76A-4EF3-C2BF-8C8F00F50B09}"/>
              </a:ext>
            </a:extLst>
          </p:cNvPr>
          <p:cNvPicPr>
            <a:picLocks noChangeAspect="1"/>
          </p:cNvPicPr>
          <p:nvPr/>
        </p:nvPicPr>
        <p:blipFill>
          <a:blip r:embed="rId6"/>
          <a:stretch>
            <a:fillRect/>
          </a:stretch>
        </p:blipFill>
        <p:spPr>
          <a:xfrm>
            <a:off x="6636673" y="3510733"/>
            <a:ext cx="4880519" cy="3030025"/>
          </a:xfrm>
          <a:prstGeom prst="rect">
            <a:avLst/>
          </a:prstGeom>
        </p:spPr>
      </p:pic>
    </p:spTree>
    <p:extLst>
      <p:ext uri="{BB962C8B-B14F-4D97-AF65-F5344CB8AC3E}">
        <p14:creationId xmlns:p14="http://schemas.microsoft.com/office/powerpoint/2010/main" val="363361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CE539-A804-E279-5584-2B4BF455E21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747391-8EA0-E965-0A7A-449409FF1D8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 Placeholder 30">
            <a:extLst>
              <a:ext uri="{FF2B5EF4-FFF2-40B4-BE49-F238E27FC236}">
                <a16:creationId xmlns:a16="http://schemas.microsoft.com/office/drawing/2014/main" id="{7847DED6-B547-8DB3-FC0A-96DD6142458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2F29DE3-B3D7-CD6A-F296-719BD9F9E341}"/>
              </a:ext>
            </a:extLst>
          </p:cNvPr>
          <p:cNvPicPr>
            <a:picLocks noChangeAspect="1"/>
          </p:cNvPicPr>
          <p:nvPr/>
        </p:nvPicPr>
        <p:blipFill>
          <a:blip r:embed="rId3"/>
          <a:stretch>
            <a:fillRect/>
          </a:stretch>
        </p:blipFill>
        <p:spPr>
          <a:xfrm>
            <a:off x="427851" y="934846"/>
            <a:ext cx="5370631" cy="1347128"/>
          </a:xfrm>
          <a:prstGeom prst="rect">
            <a:avLst/>
          </a:prstGeom>
        </p:spPr>
      </p:pic>
      <p:pic>
        <p:nvPicPr>
          <p:cNvPr id="6" name="Picture 5">
            <a:extLst>
              <a:ext uri="{FF2B5EF4-FFF2-40B4-BE49-F238E27FC236}">
                <a16:creationId xmlns:a16="http://schemas.microsoft.com/office/drawing/2014/main" id="{188FF328-58D4-18B7-1FB3-27FD19D5F7CB}"/>
              </a:ext>
            </a:extLst>
          </p:cNvPr>
          <p:cNvPicPr>
            <a:picLocks noChangeAspect="1"/>
          </p:cNvPicPr>
          <p:nvPr/>
        </p:nvPicPr>
        <p:blipFill>
          <a:blip r:embed="rId4"/>
          <a:stretch>
            <a:fillRect/>
          </a:stretch>
        </p:blipFill>
        <p:spPr>
          <a:xfrm>
            <a:off x="427851" y="2803661"/>
            <a:ext cx="4017406" cy="3668259"/>
          </a:xfrm>
          <a:prstGeom prst="rect">
            <a:avLst/>
          </a:prstGeom>
        </p:spPr>
      </p:pic>
      <p:pic>
        <p:nvPicPr>
          <p:cNvPr id="9" name="Picture 8">
            <a:extLst>
              <a:ext uri="{FF2B5EF4-FFF2-40B4-BE49-F238E27FC236}">
                <a16:creationId xmlns:a16="http://schemas.microsoft.com/office/drawing/2014/main" id="{58064335-76BF-7CC4-FC9F-0FF4EA7DD2A3}"/>
              </a:ext>
            </a:extLst>
          </p:cNvPr>
          <p:cNvPicPr>
            <a:picLocks noChangeAspect="1"/>
          </p:cNvPicPr>
          <p:nvPr/>
        </p:nvPicPr>
        <p:blipFill>
          <a:blip r:embed="rId5"/>
          <a:stretch>
            <a:fillRect/>
          </a:stretch>
        </p:blipFill>
        <p:spPr>
          <a:xfrm>
            <a:off x="5860629" y="3301662"/>
            <a:ext cx="5903520" cy="2672256"/>
          </a:xfrm>
          <a:prstGeom prst="rect">
            <a:avLst/>
          </a:prstGeom>
        </p:spPr>
      </p:pic>
    </p:spTree>
    <p:extLst>
      <p:ext uri="{BB962C8B-B14F-4D97-AF65-F5344CB8AC3E}">
        <p14:creationId xmlns:p14="http://schemas.microsoft.com/office/powerpoint/2010/main" val="425282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9188488-5CE2-4EF4-C7AB-7C0122D23FCE}"/>
              </a:ext>
            </a:extLst>
          </p:cNvPr>
          <p:cNvSpPr txBox="1"/>
          <p:nvPr/>
        </p:nvSpPr>
        <p:spPr>
          <a:xfrm>
            <a:off x="675957" y="1628909"/>
            <a:ext cx="7180419" cy="3970318"/>
          </a:xfrm>
          <a:prstGeom prst="rect">
            <a:avLst/>
          </a:prstGeom>
          <a:noFill/>
        </p:spPr>
        <p:txBody>
          <a:bodyPr wrap="square">
            <a:spAutoFit/>
          </a:bodyPr>
          <a:lstStyle/>
          <a:p>
            <a:pPr marL="342900" lvl="0" indent="-342900" algn="just">
              <a:buFont typeface="Arial" panose="020B0604020202020204" pitchFamily="34" charset="0"/>
              <a:buChar char="•"/>
            </a:pPr>
            <a:r>
              <a:rPr lang="en-US" dirty="0"/>
              <a:t>Extend the model to a time-series forecasting approach to predict next-season yield and ROI</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dirty="0"/>
              <a:t>Incorporate satellite/remote-sensing data (NDVI) for real-time crop health monitoring</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dirty="0"/>
              <a:t>Build a district-level dashboard for policymakers to track seasonal performance interactively</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dirty="0"/>
              <a:t>Include price-volatility and market-demand data to strengthen economic recommendations</a:t>
            </a:r>
          </a:p>
          <a:p>
            <a:pPr marL="342900" lvl="0" indent="-342900" algn="just">
              <a:buFont typeface="Arial" panose="020B0604020202020204" pitchFamily="34" charset="0"/>
              <a:buChar char="•"/>
            </a:pPr>
            <a:endParaRPr lang="en-US" dirty="0"/>
          </a:p>
          <a:p>
            <a:pPr marL="342900" lvl="0" indent="-342900" algn="just">
              <a:buFont typeface="Arial" panose="020B0604020202020204" pitchFamily="34" charset="0"/>
              <a:buChar char="•"/>
            </a:pPr>
            <a:r>
              <a:rPr lang="en-US" dirty="0"/>
              <a:t>Test additional ML models (</a:t>
            </a:r>
            <a:r>
              <a:rPr lang="en-US" dirty="0" err="1"/>
              <a:t>XGBoost</a:t>
            </a:r>
            <a:r>
              <a:rPr lang="en-US" dirty="0"/>
              <a:t>, Gradient Boosting) and compare accuracy against Random Forest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572117"/>
            <a:ext cx="7677626" cy="369332"/>
          </a:xfrm>
          <a:prstGeom prst="rect">
            <a:avLst/>
          </a:prstGeom>
          <a:noFill/>
        </p:spPr>
        <p:txBody>
          <a:bodyPr wrap="square">
            <a:spAutoFit/>
          </a:bodyPr>
          <a:lstStyle/>
          <a:p>
            <a:r>
              <a:rPr lang="en-US" dirty="0">
                <a:hlinkClick r:id="rId3"/>
              </a:rPr>
              <a:t>github.com/Amitkushwaha328/VOIS-and-Vodafone-Idea-Foundation-s</a:t>
            </a:r>
            <a:endParaRPr lang="en-US" dirty="0"/>
          </a:p>
        </p:txBody>
      </p:sp>
      <p:sp>
        <p:nvSpPr>
          <p:cNvPr id="6" name="TextBox 5">
            <a:extLst>
              <a:ext uri="{FF2B5EF4-FFF2-40B4-BE49-F238E27FC236}">
                <a16:creationId xmlns:a16="http://schemas.microsoft.com/office/drawing/2014/main" id="{5775E6EA-2C6D-7907-1AD6-A304FAEEC978}"/>
              </a:ext>
            </a:extLst>
          </p:cNvPr>
          <p:cNvSpPr txBox="1"/>
          <p:nvPr/>
        </p:nvSpPr>
        <p:spPr>
          <a:xfrm>
            <a:off x="675957" y="3075057"/>
            <a:ext cx="6102220" cy="707886"/>
          </a:xfrm>
          <a:prstGeom prst="rect">
            <a:avLst/>
          </a:prstGeom>
          <a:noFill/>
        </p:spPr>
        <p:txBody>
          <a:bodyPr wrap="square">
            <a:spAutoFit/>
          </a:bodyPr>
          <a:lstStyle/>
          <a:p>
            <a:r>
              <a:rPr lang="en-IN" sz="4000" dirty="0" err="1"/>
              <a:t>LinkedIN</a:t>
            </a:r>
            <a:endParaRPr lang="en-US" dirty="0"/>
          </a:p>
        </p:txBody>
      </p:sp>
      <p:sp>
        <p:nvSpPr>
          <p:cNvPr id="9" name="TextBox 8">
            <a:hlinkClick r:id="rId4"/>
            <a:extLst>
              <a:ext uri="{FF2B5EF4-FFF2-40B4-BE49-F238E27FC236}">
                <a16:creationId xmlns:a16="http://schemas.microsoft.com/office/drawing/2014/main" id="{201C0E5B-3FE4-B01E-B0F1-257B995F78B6}"/>
              </a:ext>
            </a:extLst>
          </p:cNvPr>
          <p:cNvSpPr txBox="1"/>
          <p:nvPr/>
        </p:nvSpPr>
        <p:spPr>
          <a:xfrm>
            <a:off x="675957" y="4445760"/>
            <a:ext cx="5357172" cy="369332"/>
          </a:xfrm>
          <a:prstGeom prst="rect">
            <a:avLst/>
          </a:prstGeom>
          <a:noFill/>
        </p:spPr>
        <p:txBody>
          <a:bodyPr wrap="none" rtlCol="0">
            <a:spAutoFit/>
          </a:bodyPr>
          <a:lstStyle/>
          <a:p>
            <a:r>
              <a:rPr lang="en-US" dirty="0">
                <a:hlinkClick r:id="rId4"/>
              </a:rPr>
              <a:t>https://www.linkedin.com/in/amitkushwaha328/</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60085CA-B6C2-B871-13C5-598A4F47564D}"/>
              </a:ext>
            </a:extLst>
          </p:cNvPr>
          <p:cNvPicPr>
            <a:picLocks noChangeAspect="1"/>
          </p:cNvPicPr>
          <p:nvPr/>
        </p:nvPicPr>
        <p:blipFill>
          <a:blip r:embed="rId3"/>
          <a:stretch>
            <a:fillRect/>
          </a:stretch>
        </p:blipFill>
        <p:spPr>
          <a:xfrm>
            <a:off x="828759" y="1608410"/>
            <a:ext cx="7033870" cy="497629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1378</TotalTime>
  <Words>586</Words>
  <Application>Microsoft Office PowerPoint</Application>
  <PresentationFormat>Widescreen</PresentationFormat>
  <Paragraphs>62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PowerPoint Presentation</vt:lpstr>
      <vt:lpstr>PowerPoint Presentation</vt:lpstr>
      <vt:lpstr>WHO ARE THE END USERS?</vt:lpstr>
      <vt:lpstr>Technology Used</vt:lpstr>
      <vt:lpstr>RESULTS : </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Amit Kushwahaa</cp:lastModifiedBy>
  <cp:revision>99</cp:revision>
  <dcterms:created xsi:type="dcterms:W3CDTF">2021-07-11T13:13:15Z</dcterms:created>
  <dcterms:modified xsi:type="dcterms:W3CDTF">2026-09-04T07:02:39Z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